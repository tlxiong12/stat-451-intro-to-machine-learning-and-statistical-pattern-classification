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aleway"/>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notesMaster" Target="notesMasters/notesMaster1.xml"/><Relationship Id="rId19" Type="http://schemas.openxmlformats.org/officeDocument/2006/relationships/font" Target="fonts/Raleway-boldItalic.fntdata"/><Relationship Id="rId6" Type="http://schemas.openxmlformats.org/officeDocument/2006/relationships/slide" Target="slides/slide1.xml"/><Relationship Id="rId18"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e58ef484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e58ef484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goal was to find a topic that would be rich and unique to do machine learning on. After some time searching through KAGGLE, </a:t>
            </a:r>
            <a:r>
              <a:rPr lang="en"/>
              <a:t>deliberation</a:t>
            </a:r>
            <a:r>
              <a:rPr lang="en"/>
              <a:t> and voting, we decided to choose fake </a:t>
            </a:r>
            <a:r>
              <a:rPr lang="en"/>
              <a:t>news</a:t>
            </a:r>
            <a:r>
              <a:rPr lang="en"/>
              <a:t> detection. Our dataset contains information about various news articles </a:t>
            </a:r>
            <a:r>
              <a:rPr lang="en"/>
              <a:t>labeled</a:t>
            </a:r>
            <a:r>
              <a:rPr lang="en"/>
              <a:t> as REAL and FAKE, along with other </a:t>
            </a:r>
            <a:r>
              <a:rPr lang="en"/>
              <a:t>variables</a:t>
            </a:r>
            <a:r>
              <a:rPr lang="en"/>
              <a:t> we used to train our model in order to help it determine Real or fake news using train_test_split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e58ef484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e58ef484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a few examples of what our dataset looked like when we used pandas to read the file. It has information such as the state where it was published, the date and what media </a:t>
            </a:r>
            <a:r>
              <a:rPr lang="en"/>
              <a:t>companies</a:t>
            </a:r>
            <a:r>
              <a:rPr lang="en"/>
              <a:t> have published them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fa0bbc1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fa0bbc1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the variables we hand-chose for our project to do our modeling on. We had feature selection originally choosing what variables to use, but we </a:t>
            </a:r>
            <a:r>
              <a:rPr lang="en"/>
              <a:t>ended</a:t>
            </a:r>
            <a:r>
              <a:rPr lang="en"/>
              <a:t> up with with low accuracy and precision using what feature selection told us to do leading to high counts of false </a:t>
            </a:r>
            <a:r>
              <a:rPr lang="en"/>
              <a:t>positives</a:t>
            </a:r>
            <a:r>
              <a:rPr lang="en"/>
              <a:t> and false negatives. Hand-picking our variables gave us more accurate results in determining if machine learning can detect fake news.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e58ef48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e58ef48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My name is Eric. </a:t>
            </a:r>
            <a:r>
              <a:rPr lang="en">
                <a:solidFill>
                  <a:schemeClr val="dk1"/>
                </a:solidFill>
              </a:rPr>
              <a:t>On this slide, the question we are exploring is:</a:t>
            </a:r>
            <a:r>
              <a:rPr b="1" lang="en">
                <a:solidFill>
                  <a:schemeClr val="dk1"/>
                </a:solidFill>
              </a:rPr>
              <a:t>"Which state might be populated with the most fake news?"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bar graph shows the </a:t>
            </a:r>
            <a:r>
              <a:rPr b="1" lang="en">
                <a:solidFill>
                  <a:schemeClr val="dk1"/>
                </a:solidFill>
              </a:rPr>
              <a:t>fake news percentage</a:t>
            </a:r>
            <a:r>
              <a:rPr lang="en">
                <a:solidFill>
                  <a:schemeClr val="dk1"/>
                </a:solidFill>
              </a:rPr>
              <a:t> in each state. As we can see, </a:t>
            </a:r>
            <a:r>
              <a:rPr b="1" lang="en">
                <a:solidFill>
                  <a:schemeClr val="dk1"/>
                </a:solidFill>
              </a:rPr>
              <a:t>Maryland</a:t>
            </a:r>
            <a:r>
              <a:rPr lang="en">
                <a:solidFill>
                  <a:schemeClr val="dk1"/>
                </a:solidFill>
              </a:rPr>
              <a:t> stands out clearly, with the highest percentage of fake news among all the states listed. It is highlighted in red for emphasis.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You might wonder: why are we looking at </a:t>
            </a:r>
            <a:r>
              <a:rPr b="1" lang="en">
                <a:solidFill>
                  <a:schemeClr val="dk1"/>
                </a:solidFill>
              </a:rPr>
              <a:t>percentage</a:t>
            </a:r>
            <a:r>
              <a:rPr lang="en">
                <a:solidFill>
                  <a:schemeClr val="dk1"/>
                </a:solidFill>
              </a:rPr>
              <a:t> instead of the </a:t>
            </a:r>
            <a:r>
              <a:rPr b="1" lang="en">
                <a:solidFill>
                  <a:schemeClr val="dk1"/>
                </a:solidFill>
              </a:rPr>
              <a:t>absolute number</a:t>
            </a:r>
            <a:r>
              <a:rPr lang="en">
                <a:solidFill>
                  <a:schemeClr val="dk1"/>
                </a:solidFill>
              </a:rPr>
              <a:t> of fake news articles?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Using percentage allows us to </a:t>
            </a:r>
            <a:r>
              <a:rPr b="1" lang="en">
                <a:solidFill>
                  <a:schemeClr val="dk1"/>
                </a:solidFill>
              </a:rPr>
              <a:t>normalize</a:t>
            </a:r>
            <a:r>
              <a:rPr lang="en">
                <a:solidFill>
                  <a:schemeClr val="dk1"/>
                </a:solidFill>
              </a:rPr>
              <a:t> across states of different population sizes. Some states, like California or Texas, naturally have more people and can create more content overall. If we only compared the count of fake news articles, larger states would dominate simply due to their size, not because fake news is necessarily more prevalent there. As a result, we do some variable preprocessing to get the </a:t>
            </a:r>
            <a:r>
              <a:rPr lang="en">
                <a:solidFill>
                  <a:schemeClr val="dk1"/>
                </a:solidFill>
              </a:rPr>
              <a:t>right format.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fb4f55b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fb4f55b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fb4f55b8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4fb4f55b8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e49ab24d3_3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e49ab24d3_3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We wanted to answer the question: "Which news topics are more likely to be fake?"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To do this, we grouped the data by category, calculated the proportion of fake news in each one, and visualized the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you can see in the chart, categories like Entertainment, Sports, and Business show a slightly higher proportion of fake news, while Technology and Health are a bit lower. However, the differences across categories are not very large, suggesting that fake news is fairly spread out and not limited to just one or two topics.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4e49ab24d3_3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4e49ab24d3_3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We aimed to explore the question: Does fake news increase during political events?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To investigate this, we focused on the 2020 US presidential election. We defined the election period as the time from October 1 to November 15, which includes the weeks leading up to and following the election day on November 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We processed the article dates, calculated the weekly proportion of fake news, and visualized the trend over time.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In the chart, the red shaded area shows the election period. Interestingly, the average fake news ratio during that time was 0.42, which is actually lower than the average outside of that period, which was 0.51.</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This suggests that fake news did not significantly increase during the election period in this dataset.</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fb20a44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4fb20a44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In this project, we developed machine learning models to classify news articles as real or fake. While our models, particularly the SVM, achieved high recall, they suffered from low precision often predicting articles as fake when they were real (bottom left), and real when they were fake (top right). The confusion matrix highlights this imbalance, with a significant number of false positives, top right, and false negatives, bottom left. The test set also does not have as high an f1-score and recall as the validation </a:t>
            </a:r>
            <a:r>
              <a:rPr lang="en" sz="1200">
                <a:solidFill>
                  <a:schemeClr val="dk1"/>
                </a:solidFill>
                <a:latin typeface="Times New Roman"/>
                <a:ea typeface="Times New Roman"/>
                <a:cs typeface="Times New Roman"/>
                <a:sym typeface="Times New Roman"/>
              </a:rPr>
              <a:t>set which</a:t>
            </a:r>
            <a:r>
              <a:rPr lang="en" sz="1200">
                <a:solidFill>
                  <a:schemeClr val="dk1"/>
                </a:solidFill>
                <a:latin typeface="Times New Roman"/>
                <a:ea typeface="Times New Roman"/>
                <a:cs typeface="Times New Roman"/>
                <a:sym typeface="Times New Roman"/>
              </a:rPr>
              <a:t> suggests the model is overfitting to patterns that aren’t generalizing well to new data. One major limitation is the dataset itself, which is not informative enough to achieve high </a:t>
            </a:r>
            <a:r>
              <a:rPr lang="en" sz="1200">
                <a:solidFill>
                  <a:schemeClr val="dk1"/>
                </a:solidFill>
                <a:latin typeface="Times New Roman"/>
                <a:ea typeface="Times New Roman"/>
                <a:cs typeface="Times New Roman"/>
                <a:sym typeface="Times New Roman"/>
              </a:rPr>
              <a:t>precision</a:t>
            </a:r>
            <a:r>
              <a:rPr lang="en" sz="1200">
                <a:solidFill>
                  <a:schemeClr val="dk1"/>
                </a:solidFill>
                <a:latin typeface="Times New Roman"/>
                <a:ea typeface="Times New Roman"/>
                <a:cs typeface="Times New Roman"/>
                <a:sym typeface="Times New Roman"/>
              </a:rPr>
              <a:t> and capture the subtle differences of real versus fake news. This result was not a surprise as the differences between real and fake news are often difficult to differentiate even to a casual reader; this is because fake news is often written and presented as if it were real news, which is likely part of our precision issue as we did not do any text analysis of the articles. As a next step, we plan to improve model generalization by reducing overfitting, potentially through techniques like cross-validation, feature selection, or trying a more detailed and informative dataset as well as trying some deep learning methods to detect fake news by analyzing the articles’ text.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hyperlink" Target="https://www.kaggle.com/datasets/khushikyad001/fake-news-detectio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44010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Fake News Detection</a:t>
            </a:r>
            <a:endParaRPr/>
          </a:p>
        </p:txBody>
      </p:sp>
      <p:sp>
        <p:nvSpPr>
          <p:cNvPr id="87" name="Google Shape;87;p13"/>
          <p:cNvSpPr txBox="1"/>
          <p:nvPr>
            <p:ph idx="1" type="subTitle"/>
          </p:nvPr>
        </p:nvSpPr>
        <p:spPr>
          <a:xfrm>
            <a:off x="729550" y="3172900"/>
            <a:ext cx="4401000" cy="8946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n"/>
              <a:t> Group 9: Minju Bae, James Bruggink, Juncheng Long, Eric Sun, Leo Xiong</a:t>
            </a:r>
            <a:endParaRPr b="1"/>
          </a:p>
        </p:txBody>
      </p:sp>
      <p:pic>
        <p:nvPicPr>
          <p:cNvPr id="88" name="Google Shape;88;p13"/>
          <p:cNvPicPr preferRelativeResize="0"/>
          <p:nvPr/>
        </p:nvPicPr>
        <p:blipFill>
          <a:blip r:embed="rId3">
            <a:alphaModFix/>
          </a:blip>
          <a:stretch>
            <a:fillRect/>
          </a:stretch>
        </p:blipFill>
        <p:spPr>
          <a:xfrm>
            <a:off x="4743125" y="630956"/>
            <a:ext cx="4401001" cy="4512545"/>
          </a:xfrm>
          <a:prstGeom prst="rect">
            <a:avLst/>
          </a:prstGeom>
          <a:noFill/>
          <a:ln>
            <a:noFill/>
          </a:ln>
        </p:spPr>
      </p:pic>
      <p:sp>
        <p:nvSpPr>
          <p:cNvPr id="89" name="Google Shape;89;p13"/>
          <p:cNvSpPr txBox="1"/>
          <p:nvPr/>
        </p:nvSpPr>
        <p:spPr>
          <a:xfrm>
            <a:off x="3208525" y="4146400"/>
            <a:ext cx="568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40"/>
              <a:t>Goal</a:t>
            </a:r>
            <a:endParaRPr sz="1940"/>
          </a:p>
        </p:txBody>
      </p:sp>
      <p:sp>
        <p:nvSpPr>
          <p:cNvPr id="95" name="Google Shape;95;p14"/>
          <p:cNvSpPr txBox="1"/>
          <p:nvPr/>
        </p:nvSpPr>
        <p:spPr>
          <a:xfrm>
            <a:off x="729450" y="1853850"/>
            <a:ext cx="7688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96" name="Google Shape;96;p14"/>
          <p:cNvSpPr txBox="1"/>
          <p:nvPr>
            <p:ph idx="1" type="body"/>
          </p:nvPr>
        </p:nvSpPr>
        <p:spPr>
          <a:xfrm>
            <a:off x="729325" y="2078875"/>
            <a:ext cx="76884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R</a:t>
            </a:r>
            <a:r>
              <a:rPr lang="en"/>
              <a:t>ich and unique topic to do machine learning </a:t>
            </a:r>
            <a:endParaRPr/>
          </a:p>
          <a:p>
            <a:pPr indent="-311150" lvl="0" marL="457200" rtl="0" algn="l">
              <a:spcBef>
                <a:spcPts val="0"/>
              </a:spcBef>
              <a:spcAft>
                <a:spcPts val="0"/>
              </a:spcAft>
              <a:buSzPts val="1300"/>
              <a:buChar char="●"/>
            </a:pPr>
            <a:r>
              <a:rPr lang="en"/>
              <a:t>We used </a:t>
            </a:r>
            <a:r>
              <a:rPr lang="en" u="sng">
                <a:solidFill>
                  <a:schemeClr val="accent5"/>
                </a:solidFill>
                <a:hlinkClick r:id="rId3">
                  <a:extLst>
                    <a:ext uri="{A12FA001-AC4F-418D-AE19-62706E023703}">
                      <ahyp:hlinkClr val="tx"/>
                    </a:ext>
                  </a:extLst>
                </a:hlinkClick>
              </a:rPr>
              <a:t>KAGGLE</a:t>
            </a:r>
            <a:r>
              <a:rPr lang="en"/>
              <a:t> to find our dataset</a:t>
            </a:r>
            <a:endParaRPr/>
          </a:p>
          <a:p>
            <a:pPr indent="-311150" lvl="0" marL="457200" rtl="0" algn="l">
              <a:spcBef>
                <a:spcPts val="0"/>
              </a:spcBef>
              <a:spcAft>
                <a:spcPts val="0"/>
              </a:spcAft>
              <a:buSzPts val="1300"/>
              <a:buChar char="●"/>
            </a:pPr>
            <a:r>
              <a:rPr lang="en"/>
              <a:t>Dataset contains news articles labeled as real and fake along with other variables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Example</a:t>
            </a:r>
            <a:endParaRPr/>
          </a:p>
        </p:txBody>
      </p:sp>
      <p:sp>
        <p:nvSpPr>
          <p:cNvPr id="102" name="Google Shape;102;p1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03" name="Google Shape;103;p1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4" name="Google Shape;104;p15"/>
          <p:cNvPicPr preferRelativeResize="0"/>
          <p:nvPr/>
        </p:nvPicPr>
        <p:blipFill rotWithShape="1">
          <a:blip r:embed="rId3">
            <a:alphaModFix/>
          </a:blip>
          <a:srcRect b="0" l="0" r="0" t="17019"/>
          <a:stretch/>
        </p:blipFill>
        <p:spPr>
          <a:xfrm>
            <a:off x="729450" y="1853850"/>
            <a:ext cx="7688401" cy="31149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Important Variables</a:t>
            </a:r>
            <a:endParaRPr/>
          </a:p>
          <a:p>
            <a:pPr indent="0" lvl="0" marL="0" rtl="0" algn="l">
              <a:spcBef>
                <a:spcPts val="0"/>
              </a:spcBef>
              <a:spcAft>
                <a:spcPts val="0"/>
              </a:spcAft>
              <a:buNone/>
            </a:pPr>
            <a:r>
              <a:t/>
            </a:r>
            <a:endParaRPr/>
          </a:p>
        </p:txBody>
      </p:sp>
      <p:sp>
        <p:nvSpPr>
          <p:cNvPr id="110" name="Google Shape;110;p16"/>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S</a:t>
            </a:r>
            <a:r>
              <a:rPr lang="en"/>
              <a:t>entiment_score</a:t>
            </a:r>
            <a:endParaRPr/>
          </a:p>
          <a:p>
            <a:pPr indent="-298450" lvl="1" marL="914400" rtl="0" algn="l">
              <a:spcBef>
                <a:spcPts val="0"/>
              </a:spcBef>
              <a:spcAft>
                <a:spcPts val="0"/>
              </a:spcAft>
              <a:buSzPts val="1100"/>
              <a:buChar char="○"/>
            </a:pPr>
            <a:r>
              <a:rPr lang="en"/>
              <a:t>Attitude toward article</a:t>
            </a:r>
            <a:endParaRPr/>
          </a:p>
          <a:p>
            <a:pPr indent="-311150" lvl="0" marL="457200" rtl="0" algn="l">
              <a:spcBef>
                <a:spcPts val="0"/>
              </a:spcBef>
              <a:spcAft>
                <a:spcPts val="0"/>
              </a:spcAft>
              <a:buSzPts val="1300"/>
              <a:buChar char="●"/>
            </a:pPr>
            <a:r>
              <a:rPr lang="en"/>
              <a:t>Word_count</a:t>
            </a:r>
            <a:endParaRPr/>
          </a:p>
          <a:p>
            <a:pPr indent="-298450" lvl="1" marL="914400" rtl="0" algn="l">
              <a:spcBef>
                <a:spcPts val="0"/>
              </a:spcBef>
              <a:spcAft>
                <a:spcPts val="0"/>
              </a:spcAft>
              <a:buSzPts val="1100"/>
              <a:buChar char="○"/>
            </a:pPr>
            <a:r>
              <a:rPr lang="en"/>
              <a:t>Number of word in article</a:t>
            </a:r>
            <a:endParaRPr/>
          </a:p>
          <a:p>
            <a:pPr indent="-311150" lvl="0" marL="457200" rtl="0" algn="l">
              <a:spcBef>
                <a:spcPts val="0"/>
              </a:spcBef>
              <a:spcAft>
                <a:spcPts val="0"/>
              </a:spcAft>
              <a:buSzPts val="1300"/>
              <a:buChar char="●"/>
            </a:pPr>
            <a:r>
              <a:rPr lang="en"/>
              <a:t>Readability_score</a:t>
            </a:r>
            <a:endParaRPr/>
          </a:p>
          <a:p>
            <a:pPr indent="-298450" lvl="1" marL="914400" rtl="0" algn="l">
              <a:spcBef>
                <a:spcPts val="0"/>
              </a:spcBef>
              <a:spcAft>
                <a:spcPts val="0"/>
              </a:spcAft>
              <a:buSzPts val="1100"/>
              <a:buChar char="○"/>
            </a:pPr>
            <a:r>
              <a:rPr lang="en"/>
              <a:t>measures how easy or hard a text is to read</a:t>
            </a:r>
            <a:endParaRPr/>
          </a:p>
          <a:p>
            <a:pPr indent="-311150" lvl="0" marL="457200" rtl="0" algn="l">
              <a:spcBef>
                <a:spcPts val="0"/>
              </a:spcBef>
              <a:spcAft>
                <a:spcPts val="0"/>
              </a:spcAft>
              <a:buSzPts val="1300"/>
              <a:buChar char="●"/>
            </a:pPr>
            <a:r>
              <a:rPr lang="en"/>
              <a:t>Num_shares</a:t>
            </a:r>
            <a:endParaRPr/>
          </a:p>
          <a:p>
            <a:pPr indent="-298450" lvl="1" marL="914400" rtl="0" algn="l">
              <a:spcBef>
                <a:spcPts val="0"/>
              </a:spcBef>
              <a:spcAft>
                <a:spcPts val="0"/>
              </a:spcAft>
              <a:buSzPts val="1100"/>
              <a:buChar char="○"/>
            </a:pPr>
            <a:r>
              <a:rPr lang="en"/>
              <a:t>Number of shares of article</a:t>
            </a:r>
            <a:endParaRPr/>
          </a:p>
          <a:p>
            <a:pPr indent="0" lvl="0" marL="0" rtl="0" algn="l">
              <a:spcBef>
                <a:spcPts val="1200"/>
              </a:spcBef>
              <a:spcAft>
                <a:spcPts val="1200"/>
              </a:spcAft>
              <a:buNone/>
            </a:pPr>
            <a:r>
              <a:t/>
            </a:r>
            <a:endParaRPr/>
          </a:p>
        </p:txBody>
      </p:sp>
      <p:sp>
        <p:nvSpPr>
          <p:cNvPr id="111" name="Google Shape;111;p16"/>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Num_comments</a:t>
            </a:r>
            <a:endParaRPr/>
          </a:p>
          <a:p>
            <a:pPr indent="-298450" lvl="1" marL="914400" rtl="0" algn="l">
              <a:spcBef>
                <a:spcPts val="0"/>
              </a:spcBef>
              <a:spcAft>
                <a:spcPts val="0"/>
              </a:spcAft>
              <a:buSzPts val="1100"/>
              <a:buChar char="○"/>
            </a:pPr>
            <a:r>
              <a:rPr lang="en"/>
              <a:t>Number of comments on the article</a:t>
            </a:r>
            <a:endParaRPr/>
          </a:p>
          <a:p>
            <a:pPr indent="-311150" lvl="0" marL="457200" rtl="0" algn="l">
              <a:spcBef>
                <a:spcPts val="0"/>
              </a:spcBef>
              <a:spcAft>
                <a:spcPts val="0"/>
              </a:spcAft>
              <a:buSzPts val="1300"/>
              <a:buChar char="●"/>
            </a:pPr>
            <a:r>
              <a:rPr lang="en"/>
              <a:t>Trust_score</a:t>
            </a:r>
            <a:endParaRPr/>
          </a:p>
          <a:p>
            <a:pPr indent="-298450" lvl="1" marL="914400" rtl="0" algn="l">
              <a:spcBef>
                <a:spcPts val="0"/>
              </a:spcBef>
              <a:spcAft>
                <a:spcPts val="0"/>
              </a:spcAft>
              <a:buSzPts val="1100"/>
              <a:buChar char="○"/>
            </a:pPr>
            <a:r>
              <a:rPr lang="en"/>
              <a:t>Credibility of article</a:t>
            </a:r>
            <a:endParaRPr/>
          </a:p>
          <a:p>
            <a:pPr indent="-311150" lvl="0" marL="457200" rtl="0" algn="l">
              <a:spcBef>
                <a:spcPts val="0"/>
              </a:spcBef>
              <a:spcAft>
                <a:spcPts val="0"/>
              </a:spcAft>
              <a:buSzPts val="1300"/>
              <a:buChar char="●"/>
            </a:pPr>
            <a:r>
              <a:rPr lang="en"/>
              <a:t>Source_reputation</a:t>
            </a:r>
            <a:endParaRPr/>
          </a:p>
          <a:p>
            <a:pPr indent="-298450" lvl="1" marL="914400" rtl="0" algn="l">
              <a:spcBef>
                <a:spcPts val="0"/>
              </a:spcBef>
              <a:spcAft>
                <a:spcPts val="0"/>
              </a:spcAft>
              <a:buSzPts val="1100"/>
              <a:buChar char="○"/>
            </a:pPr>
            <a:r>
              <a:rPr lang="en"/>
              <a:t>Credibility based on publisher</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idx="4294967295" type="title"/>
          </p:nvPr>
        </p:nvSpPr>
        <p:spPr>
          <a:xfrm>
            <a:off x="514650" y="692525"/>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00"/>
              <a:t>Q1. </a:t>
            </a:r>
            <a:r>
              <a:rPr lang="en" sz="1900">
                <a:solidFill>
                  <a:srgbClr val="000000"/>
                </a:solidFill>
              </a:rPr>
              <a:t>Which state might be populated with the most fake news ?</a:t>
            </a:r>
            <a:endParaRPr sz="1900">
              <a:solidFill>
                <a:srgbClr val="000000"/>
              </a:solidFill>
            </a:endParaRPr>
          </a:p>
          <a:p>
            <a:pPr indent="0" lvl="0" marL="0" rtl="0" algn="l">
              <a:spcBef>
                <a:spcPts val="0"/>
              </a:spcBef>
              <a:spcAft>
                <a:spcPts val="0"/>
              </a:spcAft>
              <a:buSzPts val="990"/>
              <a:buNone/>
            </a:pPr>
            <a:r>
              <a:t/>
            </a:r>
            <a:endParaRPr sz="1940"/>
          </a:p>
        </p:txBody>
      </p:sp>
      <p:pic>
        <p:nvPicPr>
          <p:cNvPr id="117" name="Google Shape;117;p17" title="Screenshot 2025-04-22 at 7.28.43 PM.png"/>
          <p:cNvPicPr preferRelativeResize="0"/>
          <p:nvPr/>
        </p:nvPicPr>
        <p:blipFill rotWithShape="1">
          <a:blip r:embed="rId3">
            <a:alphaModFix/>
          </a:blip>
          <a:srcRect b="1536" l="0" r="0" t="0"/>
          <a:stretch/>
        </p:blipFill>
        <p:spPr>
          <a:xfrm>
            <a:off x="998525" y="1386525"/>
            <a:ext cx="6353326" cy="35555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ctrTitle"/>
          </p:nvPr>
        </p:nvSpPr>
        <p:spPr>
          <a:xfrm>
            <a:off x="729450" y="1322450"/>
            <a:ext cx="7688100" cy="77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t>Q2: Which model performed the best in detecting fake news and how did it work?</a:t>
            </a:r>
            <a:endParaRPr sz="1900"/>
          </a:p>
        </p:txBody>
      </p:sp>
      <p:pic>
        <p:nvPicPr>
          <p:cNvPr id="123" name="Google Shape;123;p18" title="Screen Shot 2025-04-23 at 19.21.56.png"/>
          <p:cNvPicPr preferRelativeResize="0"/>
          <p:nvPr/>
        </p:nvPicPr>
        <p:blipFill>
          <a:blip r:embed="rId3">
            <a:alphaModFix/>
          </a:blip>
          <a:stretch>
            <a:fillRect/>
          </a:stretch>
        </p:blipFill>
        <p:spPr>
          <a:xfrm>
            <a:off x="867425" y="2431925"/>
            <a:ext cx="3082349" cy="2332850"/>
          </a:xfrm>
          <a:prstGeom prst="rect">
            <a:avLst/>
          </a:prstGeom>
          <a:noFill/>
          <a:ln>
            <a:noFill/>
          </a:ln>
        </p:spPr>
      </p:pic>
      <p:sp>
        <p:nvSpPr>
          <p:cNvPr id="124" name="Google Shape;124;p18"/>
          <p:cNvSpPr txBox="1"/>
          <p:nvPr/>
        </p:nvSpPr>
        <p:spPr>
          <a:xfrm>
            <a:off x="867425" y="2003650"/>
            <a:ext cx="3082500" cy="3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Step 1: Check Dataset</a:t>
            </a:r>
            <a:endParaRPr b="1" sz="1300">
              <a:solidFill>
                <a:schemeClr val="accent1"/>
              </a:solidFill>
              <a:latin typeface="Lato"/>
              <a:ea typeface="Lato"/>
              <a:cs typeface="Lato"/>
              <a:sym typeface="Lato"/>
            </a:endParaRPr>
          </a:p>
        </p:txBody>
      </p:sp>
      <p:sp>
        <p:nvSpPr>
          <p:cNvPr id="125" name="Google Shape;125;p18"/>
          <p:cNvSpPr txBox="1"/>
          <p:nvPr/>
        </p:nvSpPr>
        <p:spPr>
          <a:xfrm>
            <a:off x="5644400" y="2040250"/>
            <a:ext cx="2529000" cy="2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Step 2: Feature Selection</a:t>
            </a:r>
            <a:endParaRPr b="1" sz="1300">
              <a:solidFill>
                <a:schemeClr val="accent1"/>
              </a:solidFill>
              <a:latin typeface="Lato"/>
              <a:ea typeface="Lato"/>
              <a:cs typeface="Lato"/>
              <a:sym typeface="Lato"/>
            </a:endParaRPr>
          </a:p>
        </p:txBody>
      </p:sp>
      <p:pic>
        <p:nvPicPr>
          <p:cNvPr id="126" name="Google Shape;126;p18" title="Screen Shot 2025-04-23 at 19.25.43.png"/>
          <p:cNvPicPr preferRelativeResize="0"/>
          <p:nvPr/>
        </p:nvPicPr>
        <p:blipFill>
          <a:blip r:embed="rId4">
            <a:alphaModFix/>
          </a:blip>
          <a:stretch>
            <a:fillRect/>
          </a:stretch>
        </p:blipFill>
        <p:spPr>
          <a:xfrm>
            <a:off x="5275175" y="2370249"/>
            <a:ext cx="3245198" cy="2394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nvSpPr>
        <p:spPr>
          <a:xfrm>
            <a:off x="855225" y="1295050"/>
            <a:ext cx="2785500" cy="40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Step 3: Data Split &amp; Compare Models &amp; Feature Permutation</a:t>
            </a:r>
            <a:endParaRPr b="1" sz="1300">
              <a:solidFill>
                <a:schemeClr val="accent1"/>
              </a:solidFill>
              <a:latin typeface="Lato"/>
              <a:ea typeface="Lato"/>
              <a:cs typeface="Lato"/>
              <a:sym typeface="Lato"/>
            </a:endParaRPr>
          </a:p>
        </p:txBody>
      </p:sp>
      <p:pic>
        <p:nvPicPr>
          <p:cNvPr id="132" name="Google Shape;132;p19" title="Screen Shot 2025-04-23 at 19.27.56.png"/>
          <p:cNvPicPr preferRelativeResize="0"/>
          <p:nvPr/>
        </p:nvPicPr>
        <p:blipFill>
          <a:blip r:embed="rId3">
            <a:alphaModFix/>
          </a:blip>
          <a:stretch>
            <a:fillRect/>
          </a:stretch>
        </p:blipFill>
        <p:spPr>
          <a:xfrm>
            <a:off x="647525" y="1930375"/>
            <a:ext cx="2785499" cy="2861475"/>
          </a:xfrm>
          <a:prstGeom prst="rect">
            <a:avLst/>
          </a:prstGeom>
          <a:noFill/>
          <a:ln>
            <a:noFill/>
          </a:ln>
        </p:spPr>
      </p:pic>
      <p:sp>
        <p:nvSpPr>
          <p:cNvPr id="133" name="Google Shape;133;p19"/>
          <p:cNvSpPr txBox="1"/>
          <p:nvPr/>
        </p:nvSpPr>
        <p:spPr>
          <a:xfrm>
            <a:off x="5033550" y="891850"/>
            <a:ext cx="2651100" cy="40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Final: Outcomes from Validation Set</a:t>
            </a:r>
            <a:endParaRPr b="1" sz="1300">
              <a:solidFill>
                <a:schemeClr val="accent1"/>
              </a:solidFill>
              <a:latin typeface="Lato"/>
              <a:ea typeface="Lato"/>
              <a:cs typeface="Lato"/>
              <a:sym typeface="Lato"/>
            </a:endParaRPr>
          </a:p>
        </p:txBody>
      </p:sp>
      <p:pic>
        <p:nvPicPr>
          <p:cNvPr id="134" name="Google Shape;134;p19" title="Screen Shot 2025-04-23 at 19.45.43.png"/>
          <p:cNvPicPr preferRelativeResize="0"/>
          <p:nvPr/>
        </p:nvPicPr>
        <p:blipFill>
          <a:blip r:embed="rId4">
            <a:alphaModFix/>
          </a:blip>
          <a:stretch>
            <a:fillRect/>
          </a:stretch>
        </p:blipFill>
        <p:spPr>
          <a:xfrm>
            <a:off x="4282325" y="2924975"/>
            <a:ext cx="4153527" cy="1866876"/>
          </a:xfrm>
          <a:prstGeom prst="rect">
            <a:avLst/>
          </a:prstGeom>
          <a:noFill/>
          <a:ln>
            <a:noFill/>
          </a:ln>
        </p:spPr>
      </p:pic>
      <p:pic>
        <p:nvPicPr>
          <p:cNvPr id="135" name="Google Shape;135;p19" title="Screen Shot 2025-04-23 at 21.04.15.png"/>
          <p:cNvPicPr preferRelativeResize="0"/>
          <p:nvPr/>
        </p:nvPicPr>
        <p:blipFill>
          <a:blip r:embed="rId5">
            <a:alphaModFix/>
          </a:blip>
          <a:stretch>
            <a:fillRect/>
          </a:stretch>
        </p:blipFill>
        <p:spPr>
          <a:xfrm>
            <a:off x="4282325" y="1399339"/>
            <a:ext cx="4153525" cy="15256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40"/>
              <a:t>Q3. Which topics are more likely to be fake or real in the data?</a:t>
            </a:r>
            <a:endParaRPr sz="1940"/>
          </a:p>
        </p:txBody>
      </p:sp>
      <p:pic>
        <p:nvPicPr>
          <p:cNvPr id="141" name="Google Shape;141;p20"/>
          <p:cNvPicPr preferRelativeResize="0"/>
          <p:nvPr/>
        </p:nvPicPr>
        <p:blipFill>
          <a:blip r:embed="rId3">
            <a:alphaModFix/>
          </a:blip>
          <a:stretch>
            <a:fillRect/>
          </a:stretch>
        </p:blipFill>
        <p:spPr>
          <a:xfrm>
            <a:off x="1945738" y="1853850"/>
            <a:ext cx="5255819" cy="298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40"/>
              <a:t>Q4. Does fake news increase during political events?</a:t>
            </a:r>
            <a:endParaRPr sz="1940"/>
          </a:p>
        </p:txBody>
      </p:sp>
      <p:pic>
        <p:nvPicPr>
          <p:cNvPr id="147" name="Google Shape;147;p21"/>
          <p:cNvPicPr preferRelativeResize="0"/>
          <p:nvPr/>
        </p:nvPicPr>
        <p:blipFill>
          <a:blip r:embed="rId3">
            <a:alphaModFix/>
          </a:blip>
          <a:stretch>
            <a:fillRect/>
          </a:stretch>
        </p:blipFill>
        <p:spPr>
          <a:xfrm>
            <a:off x="1446963" y="1853850"/>
            <a:ext cx="6253384" cy="2984850"/>
          </a:xfrm>
          <a:prstGeom prst="rect">
            <a:avLst/>
          </a:prstGeom>
          <a:noFill/>
          <a:ln>
            <a:noFill/>
          </a:ln>
        </p:spPr>
      </p:pic>
      <p:sp>
        <p:nvSpPr>
          <p:cNvPr id="148" name="Google Shape;148;p21"/>
          <p:cNvSpPr txBox="1"/>
          <p:nvPr/>
        </p:nvSpPr>
        <p:spPr>
          <a:xfrm>
            <a:off x="2547050" y="2142300"/>
            <a:ext cx="1392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rgbClr val="CC0000"/>
                </a:solidFill>
                <a:latin typeface="Lato"/>
                <a:ea typeface="Lato"/>
                <a:cs typeface="Lato"/>
                <a:sym typeface="Lato"/>
              </a:rPr>
              <a:t>FNR = 0.42</a:t>
            </a:r>
            <a:endParaRPr sz="1300">
              <a:solidFill>
                <a:srgbClr val="CC0000"/>
              </a:solidFill>
              <a:latin typeface="Lato"/>
              <a:ea typeface="Lato"/>
              <a:cs typeface="Lato"/>
              <a:sym typeface="Lato"/>
            </a:endParaRPr>
          </a:p>
        </p:txBody>
      </p:sp>
      <p:sp>
        <p:nvSpPr>
          <p:cNvPr id="149" name="Google Shape;149;p21"/>
          <p:cNvSpPr txBox="1"/>
          <p:nvPr/>
        </p:nvSpPr>
        <p:spPr>
          <a:xfrm>
            <a:off x="5453825" y="2142300"/>
            <a:ext cx="1392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accent5"/>
                </a:solidFill>
                <a:latin typeface="Lato"/>
                <a:ea typeface="Lato"/>
                <a:cs typeface="Lato"/>
                <a:sym typeface="Lato"/>
              </a:rPr>
              <a:t>FNR = 0.51</a:t>
            </a:r>
            <a:endParaRPr sz="1300">
              <a:solidFill>
                <a:schemeClr val="accent5"/>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2"/>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 Next Steps</a:t>
            </a:r>
            <a:endParaRPr/>
          </a:p>
        </p:txBody>
      </p:sp>
      <p:sp>
        <p:nvSpPr>
          <p:cNvPr id="155" name="Google Shape;155;p22"/>
          <p:cNvSpPr txBox="1"/>
          <p:nvPr>
            <p:ph idx="1" type="body"/>
          </p:nvPr>
        </p:nvSpPr>
        <p:spPr>
          <a:xfrm>
            <a:off x="729450" y="1915700"/>
            <a:ext cx="3582900" cy="276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Key Takeaways</a:t>
            </a:r>
            <a:endParaRPr/>
          </a:p>
          <a:p>
            <a:pPr indent="-311150" lvl="0" marL="457200" rtl="0" algn="l">
              <a:spcBef>
                <a:spcPts val="1200"/>
              </a:spcBef>
              <a:spcAft>
                <a:spcPts val="0"/>
              </a:spcAft>
              <a:buSzPts val="1300"/>
              <a:buChar char="●"/>
            </a:pPr>
            <a:r>
              <a:rPr lang="en"/>
              <a:t>High recall, but low precision</a:t>
            </a:r>
            <a:endParaRPr/>
          </a:p>
          <a:p>
            <a:pPr indent="-311150" lvl="0" marL="457200" rtl="0" algn="l">
              <a:spcBef>
                <a:spcPts val="0"/>
              </a:spcBef>
              <a:spcAft>
                <a:spcPts val="0"/>
              </a:spcAft>
              <a:buSzPts val="1300"/>
              <a:buChar char="●"/>
            </a:pPr>
            <a:r>
              <a:rPr lang="en"/>
              <a:t>Many false positives and negatives</a:t>
            </a:r>
            <a:endParaRPr/>
          </a:p>
          <a:p>
            <a:pPr indent="0" lvl="0" marL="0" rtl="0" algn="l">
              <a:spcBef>
                <a:spcPts val="1200"/>
              </a:spcBef>
              <a:spcAft>
                <a:spcPts val="0"/>
              </a:spcAft>
              <a:buNone/>
            </a:pPr>
            <a:r>
              <a:rPr lang="en"/>
              <a:t>Limitations</a:t>
            </a:r>
            <a:endParaRPr/>
          </a:p>
          <a:p>
            <a:pPr indent="-311150" lvl="0" marL="457200" rtl="0" algn="l">
              <a:spcBef>
                <a:spcPts val="1200"/>
              </a:spcBef>
              <a:spcAft>
                <a:spcPts val="0"/>
              </a:spcAft>
              <a:buSzPts val="1300"/>
              <a:buChar char="●"/>
            </a:pPr>
            <a:r>
              <a:rPr lang="en"/>
              <a:t>Differences between real/fake news very minimal</a:t>
            </a:r>
            <a:endParaRPr/>
          </a:p>
          <a:p>
            <a:pPr indent="-311150" lvl="0" marL="457200" rtl="0" algn="l">
              <a:spcBef>
                <a:spcPts val="0"/>
              </a:spcBef>
              <a:spcAft>
                <a:spcPts val="0"/>
              </a:spcAft>
              <a:buSzPts val="1300"/>
              <a:buChar char="●"/>
            </a:pPr>
            <a:r>
              <a:rPr lang="en"/>
              <a:t>Precision </a:t>
            </a:r>
            <a:r>
              <a:rPr lang="en"/>
              <a:t>sufferers</a:t>
            </a:r>
            <a:r>
              <a:rPr lang="en"/>
              <a:t> from labeling real news as fake news</a:t>
            </a:r>
            <a:endParaRPr/>
          </a:p>
        </p:txBody>
      </p:sp>
      <p:sp>
        <p:nvSpPr>
          <p:cNvPr id="156" name="Google Shape;156;p22"/>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7" name="Google Shape;157;p22"/>
          <p:cNvPicPr preferRelativeResize="0"/>
          <p:nvPr/>
        </p:nvPicPr>
        <p:blipFill>
          <a:blip r:embed="rId3">
            <a:alphaModFix/>
          </a:blip>
          <a:stretch>
            <a:fillRect/>
          </a:stretch>
        </p:blipFill>
        <p:spPr>
          <a:xfrm>
            <a:off x="4261238" y="494275"/>
            <a:ext cx="4848225" cy="4248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